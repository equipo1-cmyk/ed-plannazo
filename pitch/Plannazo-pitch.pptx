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0400" cy="6857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Umbral de la hipótesis</c:v>
                </c:pt>
              </c:strCache>
            </c:strRef>
          </c:tx>
          <c:spPr>
            <a:solidFill>
              <a:srgbClr val="BDB5B5"/>
            </a:solidFill>
            <a:ln w="12700">
              <a:solidFill>
                <a:srgbClr val="1A1A1A"/>
              </a:solidFill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1400" b="1">
                    <a:latin typeface="Poppi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H2 · Insatisfechos con lo que usan hoy (0 de 12)</c:v>
                </c:pt>
                <c:pt idx="1">
                  <c:v>H1 · Usaría la app gratis (8 de 12)</c:v>
                </c:pt>
                <c:pt idx="2">
                  <c:v>H1 · Pagaría la versión Plus (1 de 12)</c:v>
                </c:pt>
              </c:strCache>
            </c:strRef>
          </c:cat>
          <c:val>
            <c:numRef>
              <c:f>Sheet1!$B$2:$B$4</c:f>
              <c:numCache>
                <c:formatCode>0.0"%"</c:formatCode>
                <c:ptCount val="3"/>
                <c:pt idx="0">
                  <c:v>35</c:v>
                </c:pt>
                <c:pt idx="1">
                  <c:v>50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Resultado</c:v>
                </c:pt>
              </c:strCache>
            </c:strRef>
          </c:tx>
          <c:spPr>
            <a:solidFill>
              <a:srgbClr val="FF5757"/>
            </a:solidFill>
            <a:ln w="12700">
              <a:solidFill>
                <a:srgbClr val="1A1A1A"/>
              </a:solidFill>
            </a:ln>
          </c:spPr>
          <c:invertIfNegative val="0"/>
          <c:dPt>
            <c:idx val="1"/>
            <c:spPr>
              <a:solidFill>
                <a:srgbClr val="CCFF8C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sz="1400" b="1">
                    <a:latin typeface="Poppin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H2 · Insatisfechos con lo que usan hoy (0 de 12)</c:v>
                </c:pt>
                <c:pt idx="1">
                  <c:v>H1 · Usaría la app gratis (8 de 12)</c:v>
                </c:pt>
                <c:pt idx="2">
                  <c:v>H1 · Pagaría la versión Plus (1 de 12)</c:v>
                </c:pt>
              </c:strCache>
            </c:strRef>
          </c:cat>
          <c:val>
            <c:numRef>
              <c:f>Sheet1!$C$2:$C$4</c:f>
              <c:numCache>
                <c:formatCode>0.0"%"</c:formatCode>
                <c:ptCount val="3"/>
                <c:pt idx="0">
                  <c:v>0</c:v>
                </c:pt>
                <c:pt idx="1">
                  <c:v>66.7</c:v>
                </c:pt>
                <c:pt idx="2">
                  <c:v>8.3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1A1A1A"/>
            </a:solidFill>
          </a:ln>
        </c:spPr>
        <c:txPr>
          <a:bodyPr/>
          <a:lstStyle/>
          <a:p>
            <a:pPr>
              <a:defRPr sz="1400" b="1">
                <a:latin typeface="Poppi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C9C2C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Poppins"/>
              </a:defRPr>
            </a:pPr>
          </a:p>
        </c:txPr>
        <c:crossAx val="-2068027336"/>
        <c:crosses val="autoZero"/>
        <c:majorUnit val="25.0"/>
      </c:valAx>
    </c:plotArea>
    <c:legend>
      <c:legendPos val="t"/>
      <c:overlay val="0"/>
      <c:txPr>
        <a:bodyPr/>
        <a:lstStyle/>
        <a:p>
          <a:pPr>
            <a:defRPr sz="1400"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contamos algo que nos pasó: un sábado quisimos salir con poco dinero, pasamos una hora mirando Instagram y Google Maps y acabamos en el sitio de siempre.</a:t>
            </a:r>
          </a:p>
          <a:p>
            <a:r>
              <a:t>(pausa)</a:t>
            </a:r>
          </a:p>
          <a:p>
            <a:r>
              <a:t>¿A cuántos os ha pasado?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que nos contaron: falta de compañía (no conocer a nadie y no saber con quién ir) y planes que no se concretan y acaban en quedarse en casa.</a:t>
            </a:r>
          </a:p>
          <a:p>
            <a:r>
              <a:t>Hoy lo resuelven con búsqueda por redes sociales, peer to peer, preguntar a conocidos y reseñas de Google Maps, y no les basta.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Nuestro insight: aunque encuentran ideas de sobra en TikTok, Instagram o Google Maps, un plan solo se hace realidad si hay alguien con quien ir.</a:t>
            </a:r>
          </a:p>
          <a:p>
            <a:r>
              <a:t>Cuanto más buscan solos, más se bloquean y más tiempo pierden, porque lo que les falta es compañía y no información.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Plannazo: conecta con gente nueva, descubre nuevos planes y obtén descuentos. Os lo enseñamos en directo.</a:t>
            </a:r>
          </a:p>
          <a:p>
            <a:r>
              <a:t>(DEMO: Buscar mi plannazo → 15 € y somos 4 → elegir plan → Crear grupo → votar en el chat → dividir el pago)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está el valor: cada uno vota el plan y el día desde su móvil, en el chat del grupo. La app dice qué gana y cuánto paga cada uno, y el plan queda cerrado.</a:t>
            </a:r>
          </a:p>
          <a:p>
            <a:r>
              <a:t>De «a ver si quedamos» a un plan real en un par de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Encuesta (n = 12, datos de práctica).</a:t>
            </a:r>
          </a:p>
          <a:p>
            <a:r>
              <a:t>H1: con el criterio de pago, solo 1 de 12 (8,3 %) daría un 4 o un 5. Eso está muy lejos del 50 %, y el intervalo llega como mucho al 35 %. Ojo: con intención de uso sería un 66,7 %, pero el intervalo (39–86 %) también incluye el 50 %.</a:t>
            </a:r>
          </a:p>
          <a:p>
            <a:r>
              <a:t>H2: la web no la mide, pero la tabla da pistas. Nadie puntúa por debajo de 3 su satisfacción con lo que usa (7/12 dan 4 o 5). Aun así, 10/12 ven Plannazo diferente (4 o 5).</a:t>
            </a:r>
          </a:p>
          <a:p>
            <a:r>
              <a:t>En el test con usuarios vimos 2 problemas de uso; los más graves los hemos corregido en esta versión.</a:t>
            </a:r>
          </a:p>
          <a:p>
            <a:r>
              <a:t>H1 · Les convence la propuesta «Conectar: conecta con gente nueva, descubre nuevos planes, obtén descuentos» → no concluyente.</a:t>
            </a:r>
          </a:p>
          <a:p>
            <a:r>
              <a:t>H2 · Lo que usan hoy no les basta (redes sociales, peer to peer, preguntar a conocidos, reseñas de Google Maps) → no concluyente.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Cómo ganamos dinero: app gratis para el estudiante, por su presupuesto ajustado; publicidad de locales, con planes patrocinados y destacados en el buscador; y anuncios segmentados por zona, tipo de plan y presupuesto.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Pivotamos. No establecemos una versión de pago: la app será gratuita. Y cambiamos «precios asequibles» por precios fijos que elige el propio cliente según lo que puede gastar.</a:t>
            </a:r>
          </a:p>
          <a:p>
            <a:r>
              <a:t>Por mucho que las redes les basten, cuando conozcan la app e interactúen con ella cambiarán de opinión.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Probad Plannazo ahora: escanead el QR.</a:t>
            </a:r>
          </a:p>
          <a:p>
            <a:r>
              <a:t>Súmate a Plannazo y establece nuevos lazos.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hyperlink" Target="https://equipo1-cmyk.github.io/ed-plannazo/app/?prueba=1" TargetMode="External"/><Relationship Id="rId5" Type="http://schemas.openxmlformats.org/officeDocument/2006/relationships/image" Target="../media/image2.jpg"/><Relationship Id="rId6" Type="http://schemas.openxmlformats.org/officeDocument/2006/relationships/image" Target="../media/image3.jpg"/><Relationship Id="rId7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hyperlink" Target="https://equipo1-cmyk.github.io/ed-plannazo/app/" TargetMode="External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75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Plannaz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304760"/>
            <a:ext cx="2161025" cy="396188"/>
          </a:xfrm>
          <a:prstGeom prst="rect">
            <a:avLst/>
          </a:prstGeom>
        </p:spPr>
      </p:pic>
      <p:sp>
        <p:nvSpPr>
          <p:cNvPr id="3" name="Número de slide"/>
          <p:cNvSpPr txBox="1"/>
          <p:nvPr/>
        </p:nvSpPr>
        <p:spPr>
          <a:xfrm>
            <a:off x="10514220" y="6323770"/>
            <a:ext cx="944756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1A1A1A"/>
                </a:solidFill>
                <a:latin typeface="Poppins"/>
              </a:rPr>
              <a:t>1 / 9</a:t>
            </a:r>
          </a:p>
        </p:txBody>
      </p:sp>
      <p:sp>
        <p:nvSpPr>
          <p:cNvPr id="4" name="Etiqueta"/>
          <p:cNvSpPr/>
          <p:nvPr/>
        </p:nvSpPr>
        <p:spPr>
          <a:xfrm>
            <a:off x="731424" y="2285700"/>
            <a:ext cx="3580930" cy="350474"/>
          </a:xfrm>
          <a:prstGeom prst="roundRect">
            <a:avLst>
              <a:gd name="adj" fmla="val 50000"/>
            </a:avLst>
          </a:prstGeom>
          <a:solidFill>
            <a:srgbClr val="CCFF8C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400" b="1">
                <a:solidFill>
                  <a:srgbClr val="1A1A1A"/>
                </a:solidFill>
                <a:latin typeface="Poppins"/>
              </a:rPr>
              <a:t>UNIVERSITARIOS RECIÉN LLEGADOS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731424" y="2895220"/>
            <a:ext cx="10666600" cy="2742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Poppins"/>
              </a:rPr>
              <a:t>Ciudad nueva, poco dinero y </a:t>
            </a:r>
            <a:r>
              <a:rPr sz="6000" b="1">
                <a:solidFill>
                  <a:srgbClr val="1A1A1A"/>
                </a:solidFill>
                <a:highlight>
                  <a:srgbClr val="CCFF8C"/>
                </a:highlight>
                <a:latin typeface="Poppins"/>
              </a:rPr>
              <a:t>poca gente con quien salir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D7D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Plannaz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304760"/>
            <a:ext cx="2161025" cy="396188"/>
          </a:xfrm>
          <a:prstGeom prst="rect">
            <a:avLst/>
          </a:prstGeom>
        </p:spPr>
      </p:pic>
      <p:sp>
        <p:nvSpPr>
          <p:cNvPr id="3" name="Número de slide"/>
          <p:cNvSpPr txBox="1"/>
          <p:nvPr/>
        </p:nvSpPr>
        <p:spPr>
          <a:xfrm>
            <a:off x="10514220" y="6323770"/>
            <a:ext cx="944756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4A4444"/>
                </a:solidFill>
                <a:latin typeface="Poppins"/>
              </a:rPr>
              <a:t>2 / 9</a:t>
            </a:r>
          </a:p>
        </p:txBody>
      </p:sp>
      <p:sp>
        <p:nvSpPr>
          <p:cNvPr id="4" name="Etiqueta"/>
          <p:cNvSpPr/>
          <p:nvPr/>
        </p:nvSpPr>
        <p:spPr>
          <a:xfrm>
            <a:off x="731424" y="2514270"/>
            <a:ext cx="3276170" cy="350474"/>
          </a:xfrm>
          <a:prstGeom prst="roundRect">
            <a:avLst>
              <a:gd name="adj" fmla="val 50000"/>
            </a:avLst>
          </a:prstGeom>
          <a:solidFill>
            <a:srgbClr val="CCFF8C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400" b="1">
                <a:solidFill>
                  <a:srgbClr val="1A1A1A"/>
                </a:solidFill>
                <a:latin typeface="Poppins"/>
              </a:rPr>
              <a:t>EL PROBLEMA · ENTREVISTAS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731424" y="3123790"/>
            <a:ext cx="10666600" cy="1980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Poppins"/>
              </a:rPr>
              <a:t>No conocen a nadie y </a:t>
            </a:r>
            <a:r>
              <a:rPr sz="6000" b="1">
                <a:solidFill>
                  <a:srgbClr val="1A1A1A"/>
                </a:solidFill>
                <a:highlight>
                  <a:srgbClr val="FF5757"/>
                </a:highlight>
                <a:latin typeface="Poppins"/>
              </a:rPr>
              <a:t>no saben con quién 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Plannaz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304760"/>
            <a:ext cx="2161025" cy="396188"/>
          </a:xfrm>
          <a:prstGeom prst="rect">
            <a:avLst/>
          </a:prstGeom>
        </p:spPr>
      </p:pic>
      <p:sp>
        <p:nvSpPr>
          <p:cNvPr id="3" name="Número de slide"/>
          <p:cNvSpPr txBox="1"/>
          <p:nvPr/>
        </p:nvSpPr>
        <p:spPr>
          <a:xfrm>
            <a:off x="10514220" y="6323770"/>
            <a:ext cx="944756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DDD7D7"/>
                </a:solidFill>
                <a:latin typeface="Poppins"/>
              </a:rPr>
              <a:t>3 / 9</a:t>
            </a:r>
          </a:p>
        </p:txBody>
      </p:sp>
      <p:sp>
        <p:nvSpPr>
          <p:cNvPr id="4" name="Etiqueta"/>
          <p:cNvSpPr/>
          <p:nvPr/>
        </p:nvSpPr>
        <p:spPr>
          <a:xfrm>
            <a:off x="731424" y="2209510"/>
            <a:ext cx="1371420" cy="350474"/>
          </a:xfrm>
          <a:prstGeom prst="roundRect">
            <a:avLst>
              <a:gd name="adj" fmla="val 50000"/>
            </a:avLst>
          </a:prstGeom>
          <a:solidFill>
            <a:srgbClr val="CCFF8C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400" b="1">
                <a:solidFill>
                  <a:srgbClr val="1A1A1A"/>
                </a:solidFill>
                <a:latin typeface="Poppins"/>
              </a:rPr>
              <a:t>INSIGHT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731424" y="2819030"/>
            <a:ext cx="10666600" cy="1980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DDD7D7"/>
                </a:solidFill>
                <a:latin typeface="Poppins"/>
              </a:rPr>
              <a:t>Ideas les sobran. </a:t>
            </a:r>
            <a:r>
              <a:rPr sz="6000" b="1">
                <a:solidFill>
                  <a:srgbClr val="1A1A1A"/>
                </a:solidFill>
                <a:highlight>
                  <a:srgbClr val="FF5757"/>
                </a:highlight>
                <a:latin typeface="Poppins"/>
              </a:rPr>
              <a:t>Les falta con quién ir</a:t>
            </a:r>
          </a:p>
        </p:txBody>
      </p:sp>
      <p:sp>
        <p:nvSpPr>
          <p:cNvPr id="6" name="Subtítulo"/>
          <p:cNvSpPr txBox="1"/>
          <p:nvPr/>
        </p:nvSpPr>
        <p:spPr>
          <a:xfrm>
            <a:off x="731424" y="4876160"/>
            <a:ext cx="9904700" cy="457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DD7D7"/>
                </a:solidFill>
                <a:latin typeface="Poppins"/>
              </a:rPr>
              <a:t>TikTok, Instagram y Google Maps dan información, no compañía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D7D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Plannaz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304760"/>
            <a:ext cx="2161025" cy="396188"/>
          </a:xfrm>
          <a:prstGeom prst="rect">
            <a:avLst/>
          </a:prstGeom>
        </p:spPr>
      </p:pic>
      <p:sp>
        <p:nvSpPr>
          <p:cNvPr id="3" name="Número de slide"/>
          <p:cNvSpPr txBox="1"/>
          <p:nvPr/>
        </p:nvSpPr>
        <p:spPr>
          <a:xfrm>
            <a:off x="10514220" y="6323770"/>
            <a:ext cx="944756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4A4444"/>
                </a:solidFill>
                <a:latin typeface="Poppins"/>
              </a:rPr>
              <a:t>4 / 9</a:t>
            </a:r>
          </a:p>
        </p:txBody>
      </p:sp>
      <p:sp>
        <p:nvSpPr>
          <p:cNvPr id="4" name="Etiqueta"/>
          <p:cNvSpPr/>
          <p:nvPr/>
        </p:nvSpPr>
        <p:spPr>
          <a:xfrm>
            <a:off x="731424" y="1219040"/>
            <a:ext cx="1752370" cy="350474"/>
          </a:xfrm>
          <a:prstGeom prst="roundRect">
            <a:avLst>
              <a:gd name="adj" fmla="val 50000"/>
            </a:avLst>
          </a:prstGeom>
          <a:solidFill>
            <a:srgbClr val="CCFF8C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400" b="1">
                <a:solidFill>
                  <a:srgbClr val="1A1A1A"/>
                </a:solidFill>
                <a:latin typeface="Poppins"/>
              </a:rPr>
              <a:t>LA SOLUCIÓN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731424" y="1798084"/>
            <a:ext cx="4571400" cy="213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Poppins"/>
              </a:rPr>
              <a:t>Plannazo · </a:t>
            </a:r>
            <a:r>
              <a:rPr sz="4800" b="1">
                <a:solidFill>
                  <a:srgbClr val="1A1A1A"/>
                </a:solidFill>
                <a:highlight>
                  <a:srgbClr val="FF5757"/>
                </a:highlight>
                <a:latin typeface="Poppins"/>
              </a:rPr>
              <a:t>demo en vivo</a:t>
            </a:r>
          </a:p>
        </p:txBody>
      </p:sp>
      <p:sp>
        <p:nvSpPr>
          <p:cNvPr id="6" name="Subtítulo"/>
          <p:cNvSpPr txBox="1"/>
          <p:nvPr/>
        </p:nvSpPr>
        <p:spPr>
          <a:xfrm>
            <a:off x="731424" y="4266640"/>
            <a:ext cx="3961880" cy="1142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4A4444"/>
                </a:solidFill>
                <a:latin typeface="Poppins"/>
              </a:rPr>
              <a:t>Dinos cuánto tienes y cuántos sois: nosotros te damos el plannazo</a:t>
            </a:r>
          </a:p>
        </p:txBody>
      </p:sp>
      <p:sp>
        <p:nvSpPr>
          <p:cNvPr id="7" name="Botón demo en vivo">
            <a:hlinkClick r:id="rId4"/>
          </p:cNvPr>
          <p:cNvSpPr/>
          <p:nvPr/>
        </p:nvSpPr>
        <p:spPr>
          <a:xfrm>
            <a:off x="731424" y="5561870"/>
            <a:ext cx="2057130" cy="487616"/>
          </a:xfrm>
          <a:prstGeom prst="roundRect">
            <a:avLst>
              <a:gd name="adj" fmla="val 50000"/>
            </a:avLst>
          </a:prstGeom>
          <a:solidFill>
            <a:srgbClr val="CCFF8C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800" b="1">
                <a:solidFill>
                  <a:srgbClr val="1A1A1A"/>
                </a:solidFill>
                <a:latin typeface="Poppins"/>
              </a:rPr>
              <a:t>Demo en vivo ↗</a:t>
            </a:r>
          </a:p>
        </p:txBody>
      </p:sp>
      <p:sp>
        <p:nvSpPr>
          <p:cNvPr id="8" name="Marco móvil"/>
          <p:cNvSpPr/>
          <p:nvPr/>
        </p:nvSpPr>
        <p:spPr>
          <a:xfrm>
            <a:off x="5028540" y="990470"/>
            <a:ext cx="2057130" cy="4274454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nicio de la app con el titular y el botón Buscar mi plannaz" descr="Inicio de la app con el titular y el botón Buscar mi plannaz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4730" y="1066660"/>
            <a:ext cx="1904750" cy="4122074"/>
          </a:xfrm>
          <a:prstGeom prst="rect">
            <a:avLst/>
          </a:prstGeom>
        </p:spPr>
      </p:pic>
      <p:sp>
        <p:nvSpPr>
          <p:cNvPr id="10" name="Pie de captura"/>
          <p:cNvSpPr txBox="1"/>
          <p:nvPr/>
        </p:nvSpPr>
        <p:spPr>
          <a:xfrm>
            <a:off x="4876160" y="5386828"/>
            <a:ext cx="2361890" cy="30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Poppins"/>
              </a:rPr>
              <a:t>1 · Abres la app</a:t>
            </a:r>
          </a:p>
        </p:txBody>
      </p:sp>
      <p:sp>
        <p:nvSpPr>
          <p:cNvPr id="11" name="Marco móvil"/>
          <p:cNvSpPr/>
          <p:nvPr/>
        </p:nvSpPr>
        <p:spPr>
          <a:xfrm>
            <a:off x="7314240" y="990470"/>
            <a:ext cx="2057130" cy="4274454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Buscador con 15 € por persona, 4 personas y sábado" descr="Buscador con 15 € por persona, 4 personas y sábad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0430" y="1066660"/>
            <a:ext cx="1904750" cy="4122074"/>
          </a:xfrm>
          <a:prstGeom prst="rect">
            <a:avLst/>
          </a:prstGeom>
        </p:spPr>
      </p:pic>
      <p:sp>
        <p:nvSpPr>
          <p:cNvPr id="13" name="Pie de captura"/>
          <p:cNvSpPr txBox="1"/>
          <p:nvPr/>
        </p:nvSpPr>
        <p:spPr>
          <a:xfrm>
            <a:off x="7161860" y="5386828"/>
            <a:ext cx="2361890" cy="30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Poppins"/>
              </a:rPr>
              <a:t>2 · 15 € y somos 4</a:t>
            </a:r>
          </a:p>
        </p:txBody>
      </p:sp>
      <p:sp>
        <p:nvSpPr>
          <p:cNvPr id="14" name="Marco móvil"/>
          <p:cNvSpPr/>
          <p:nvPr/>
        </p:nvSpPr>
        <p:spPr>
          <a:xfrm>
            <a:off x="9599940" y="990470"/>
            <a:ext cx="2057130" cy="4274454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lan Brunch con las opciones Hacerlo solo o Crear grupo" descr="Plan Brunch con las opciones Hacerlo solo o Crear grup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6130" y="1066660"/>
            <a:ext cx="1904750" cy="4122074"/>
          </a:xfrm>
          <a:prstGeom prst="rect">
            <a:avLst/>
          </a:prstGeom>
        </p:spPr>
      </p:pic>
      <p:sp>
        <p:nvSpPr>
          <p:cNvPr id="16" name="Pie de captura"/>
          <p:cNvSpPr txBox="1"/>
          <p:nvPr/>
        </p:nvSpPr>
        <p:spPr>
          <a:xfrm>
            <a:off x="9447560" y="5386828"/>
            <a:ext cx="2361890" cy="30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Poppins"/>
              </a:rPr>
              <a:t>3 · Solo o en grupo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75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Plannaz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304760"/>
            <a:ext cx="2161025" cy="396188"/>
          </a:xfrm>
          <a:prstGeom prst="rect">
            <a:avLst/>
          </a:prstGeom>
        </p:spPr>
      </p:pic>
      <p:sp>
        <p:nvSpPr>
          <p:cNvPr id="3" name="Número de slide"/>
          <p:cNvSpPr txBox="1"/>
          <p:nvPr/>
        </p:nvSpPr>
        <p:spPr>
          <a:xfrm>
            <a:off x="10514220" y="6323770"/>
            <a:ext cx="944756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1A1A1A"/>
                </a:solidFill>
                <a:latin typeface="Poppins"/>
              </a:rPr>
              <a:t>5 / 9</a:t>
            </a:r>
          </a:p>
        </p:txBody>
      </p:sp>
      <p:sp>
        <p:nvSpPr>
          <p:cNvPr id="4" name="Etiqueta"/>
          <p:cNvSpPr/>
          <p:nvPr/>
        </p:nvSpPr>
        <p:spPr>
          <a:xfrm>
            <a:off x="731424" y="1904750"/>
            <a:ext cx="1523800" cy="350474"/>
          </a:xfrm>
          <a:prstGeom prst="roundRect">
            <a:avLst>
              <a:gd name="adj" fmla="val 50000"/>
            </a:avLst>
          </a:prstGeom>
          <a:solidFill>
            <a:srgbClr val="CCFF8C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400" b="1">
                <a:solidFill>
                  <a:srgbClr val="1A1A1A"/>
                </a:solidFill>
                <a:latin typeface="Poppins"/>
              </a:rPr>
              <a:t>EL VALOR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731424" y="2438080"/>
            <a:ext cx="5485680" cy="2438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Poppins"/>
              </a:rPr>
              <a:t>El grupo vota y </a:t>
            </a:r>
            <a:r>
              <a:rPr sz="4800" b="1">
                <a:solidFill>
                  <a:srgbClr val="1A1A1A"/>
                </a:solidFill>
                <a:highlight>
                  <a:srgbClr val="CCFF8C"/>
                </a:highlight>
                <a:latin typeface="Poppins"/>
              </a:rPr>
              <a:t>el plan se cierra</a:t>
            </a:r>
          </a:p>
        </p:txBody>
      </p:sp>
      <p:sp>
        <p:nvSpPr>
          <p:cNvPr id="6" name="Subtítulo"/>
          <p:cNvSpPr txBox="1"/>
          <p:nvPr/>
        </p:nvSpPr>
        <p:spPr>
          <a:xfrm>
            <a:off x="731424" y="5180920"/>
            <a:ext cx="4876160" cy="761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Poppins"/>
              </a:rPr>
              <a:t>Cada uno vota desde su móvil. La app reparte el pago</a:t>
            </a:r>
          </a:p>
        </p:txBody>
      </p:sp>
      <p:sp>
        <p:nvSpPr>
          <p:cNvPr id="7" name="Marco móvil"/>
          <p:cNvSpPr/>
          <p:nvPr/>
        </p:nvSpPr>
        <p:spPr>
          <a:xfrm>
            <a:off x="6552340" y="838090"/>
            <a:ext cx="2361890" cy="4933986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Votación en el chat del grupo: gana Cine el sábado, cada uno" descr="Votación en el chat del grupo: gana Cine el sábado, cada uno paga 9,70 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530" y="914280"/>
            <a:ext cx="2209510" cy="4781606"/>
          </a:xfrm>
          <a:prstGeom prst="rect">
            <a:avLst/>
          </a:prstGeom>
        </p:spPr>
      </p:pic>
      <p:sp>
        <p:nvSpPr>
          <p:cNvPr id="9" name="Pie de captura"/>
          <p:cNvSpPr txBox="1"/>
          <p:nvPr/>
        </p:nvSpPr>
        <p:spPr>
          <a:xfrm>
            <a:off x="6399960" y="5893980"/>
            <a:ext cx="2666650" cy="30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Poppins"/>
              </a:rPr>
              <a:t>4 · Votación en el chat</a:t>
            </a:r>
          </a:p>
        </p:txBody>
      </p:sp>
      <p:sp>
        <p:nvSpPr>
          <p:cNvPr id="10" name="Marco móvil"/>
          <p:cNvSpPr/>
          <p:nvPr/>
        </p:nvSpPr>
        <p:spPr>
          <a:xfrm>
            <a:off x="9142800" y="838090"/>
            <a:ext cx="2361890" cy="4933986"/>
          </a:xfrm>
          <a:prstGeom prst="roundRect">
            <a:avLst>
              <a:gd name="adj" fmla="val 8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lan cerrado: Cine el sábado, 4 personas, 9,70 € cada uno" descr="Plan cerrado: Cine el sábado, 4 personas, 9,70 € cada un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990" y="914280"/>
            <a:ext cx="2209510" cy="4781606"/>
          </a:xfrm>
          <a:prstGeom prst="rect">
            <a:avLst/>
          </a:prstGeom>
        </p:spPr>
      </p:pic>
      <p:sp>
        <p:nvSpPr>
          <p:cNvPr id="12" name="Pie de captura"/>
          <p:cNvSpPr txBox="1"/>
          <p:nvPr/>
        </p:nvSpPr>
        <p:spPr>
          <a:xfrm>
            <a:off x="8990420" y="5893980"/>
            <a:ext cx="2666650" cy="30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Poppins"/>
              </a:rPr>
              <a:t>5 · ¡Plan cerrado!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D7D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Plannaz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304760"/>
            <a:ext cx="2161025" cy="396188"/>
          </a:xfrm>
          <a:prstGeom prst="rect">
            <a:avLst/>
          </a:prstGeom>
        </p:spPr>
      </p:pic>
      <p:sp>
        <p:nvSpPr>
          <p:cNvPr id="3" name="Número de slide"/>
          <p:cNvSpPr txBox="1"/>
          <p:nvPr/>
        </p:nvSpPr>
        <p:spPr>
          <a:xfrm>
            <a:off x="10514220" y="6323770"/>
            <a:ext cx="944756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4A4444"/>
                </a:solidFill>
                <a:latin typeface="Poppins"/>
              </a:rPr>
              <a:t>6 / 9</a:t>
            </a:r>
          </a:p>
        </p:txBody>
      </p:sp>
      <p:sp>
        <p:nvSpPr>
          <p:cNvPr id="4" name="Etiqueta"/>
          <p:cNvSpPr/>
          <p:nvPr/>
        </p:nvSpPr>
        <p:spPr>
          <a:xfrm>
            <a:off x="731424" y="1066660"/>
            <a:ext cx="3352360" cy="350474"/>
          </a:xfrm>
          <a:prstGeom prst="roundRect">
            <a:avLst>
              <a:gd name="adj" fmla="val 50000"/>
            </a:avLst>
          </a:prstGeom>
          <a:solidFill>
            <a:srgbClr val="CCFF8C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400" b="1">
                <a:solidFill>
                  <a:srgbClr val="1A1A1A"/>
                </a:solidFill>
                <a:latin typeface="Poppins"/>
              </a:rPr>
              <a:t>LO QUE NOS DICEN LOS DATOS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731424" y="1599990"/>
            <a:ext cx="10666600" cy="6857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Poppins"/>
              </a:rPr>
              <a:t>Gusta gratis, pero </a:t>
            </a:r>
            <a:r>
              <a:rPr sz="4400" b="1">
                <a:solidFill>
                  <a:srgbClr val="1A1A1A"/>
                </a:solidFill>
                <a:highlight>
                  <a:srgbClr val="FF5757"/>
                </a:highlight>
                <a:latin typeface="Poppins"/>
              </a:rPr>
              <a:t>casi nadie pagaría</a:t>
            </a:r>
          </a:p>
        </p:txBody>
      </p:sp>
      <p:sp>
        <p:nvSpPr>
          <p:cNvPr id="6" name="Fondo del gráfico"/>
          <p:cNvSpPr/>
          <p:nvPr/>
        </p:nvSpPr>
        <p:spPr>
          <a:xfrm>
            <a:off x="731424" y="2438080"/>
            <a:ext cx="10727552" cy="3352360"/>
          </a:xfrm>
          <a:prstGeom prst="roundRect">
            <a:avLst>
              <a:gd name="adj" fmla="val 6000"/>
            </a:avLst>
          </a:prstGeom>
          <a:solidFill>
            <a:srgbClr val="F6F3F3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Gráfico de evidencia"/>
          <p:cNvGraphicFramePr>
            <a:graphicFrameLocks noGrp="1"/>
          </p:cNvGraphicFramePr>
          <p:nvPr/>
        </p:nvGraphicFramePr>
        <p:xfrm>
          <a:off x="914280" y="2559984"/>
          <a:ext cx="10361840" cy="312379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8" name="Fuente"/>
          <p:cNvSpPr txBox="1"/>
          <p:nvPr/>
        </p:nvSpPr>
        <p:spPr>
          <a:xfrm>
            <a:off x="731424" y="5942820"/>
            <a:ext cx="9904700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4444"/>
                </a:solidFill>
                <a:latin typeface="Poppins"/>
              </a:rPr>
              <a:t>n = 12 · Fuente: encuesta de validación del equipo (octubre 2026) · Datos de práctica de clase, no representativos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D7D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Plannaz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304760"/>
            <a:ext cx="2161025" cy="396188"/>
          </a:xfrm>
          <a:prstGeom prst="rect">
            <a:avLst/>
          </a:prstGeom>
        </p:spPr>
      </p:pic>
      <p:sp>
        <p:nvSpPr>
          <p:cNvPr id="3" name="Número de slide"/>
          <p:cNvSpPr txBox="1"/>
          <p:nvPr/>
        </p:nvSpPr>
        <p:spPr>
          <a:xfrm>
            <a:off x="10514220" y="6323770"/>
            <a:ext cx="944756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4A4444"/>
                </a:solidFill>
                <a:latin typeface="Poppins"/>
              </a:rPr>
              <a:t>7 / 9</a:t>
            </a:r>
          </a:p>
        </p:txBody>
      </p:sp>
      <p:sp>
        <p:nvSpPr>
          <p:cNvPr id="4" name="Etiqueta"/>
          <p:cNvSpPr/>
          <p:nvPr/>
        </p:nvSpPr>
        <p:spPr>
          <a:xfrm>
            <a:off x="731424" y="1980940"/>
            <a:ext cx="2514270" cy="350474"/>
          </a:xfrm>
          <a:prstGeom prst="roundRect">
            <a:avLst>
              <a:gd name="adj" fmla="val 50000"/>
            </a:avLst>
          </a:prstGeom>
          <a:solidFill>
            <a:srgbClr val="CCFF8C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400" b="1">
                <a:solidFill>
                  <a:srgbClr val="1A1A1A"/>
                </a:solidFill>
                <a:latin typeface="Poppins"/>
              </a:rPr>
              <a:t>MODELO DE NEGOCIO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731424" y="2590460"/>
            <a:ext cx="10666600" cy="1828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Poppins"/>
              </a:rPr>
              <a:t>Gratis para el estudiante. </a:t>
            </a:r>
            <a:r>
              <a:rPr sz="6000" b="1">
                <a:solidFill>
                  <a:srgbClr val="1A1A1A"/>
                </a:solidFill>
                <a:highlight>
                  <a:srgbClr val="FF5757"/>
                </a:highlight>
                <a:latin typeface="Poppins"/>
              </a:rPr>
              <a:t>Pagan los locales</a:t>
            </a:r>
          </a:p>
        </p:txBody>
      </p:sp>
      <p:sp>
        <p:nvSpPr>
          <p:cNvPr id="6" name="Fuente de ingresos"/>
          <p:cNvSpPr/>
          <p:nvPr/>
        </p:nvSpPr>
        <p:spPr>
          <a:xfrm>
            <a:off x="731424" y="4723780"/>
            <a:ext cx="2285700" cy="472378"/>
          </a:xfrm>
          <a:prstGeom prst="roundRect">
            <a:avLst>
              <a:gd name="adj" fmla="val 50000"/>
            </a:avLst>
          </a:prstGeom>
          <a:solidFill>
            <a:srgbClr val="F6F3F3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600" b="1">
                <a:solidFill>
                  <a:srgbClr val="1A1A1A"/>
                </a:solidFill>
                <a:latin typeface="Poppins"/>
              </a:rPr>
              <a:t>Planes patrocinados</a:t>
            </a:r>
          </a:p>
        </p:txBody>
      </p:sp>
      <p:sp>
        <p:nvSpPr>
          <p:cNvPr id="7" name="Fuente de ingresos"/>
          <p:cNvSpPr/>
          <p:nvPr/>
        </p:nvSpPr>
        <p:spPr>
          <a:xfrm>
            <a:off x="3169504" y="4723780"/>
            <a:ext cx="2895220" cy="472378"/>
          </a:xfrm>
          <a:prstGeom prst="roundRect">
            <a:avLst>
              <a:gd name="adj" fmla="val 50000"/>
            </a:avLst>
          </a:prstGeom>
          <a:solidFill>
            <a:srgbClr val="F6F3F3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600" b="1">
                <a:solidFill>
                  <a:srgbClr val="1A1A1A"/>
                </a:solidFill>
                <a:latin typeface="Poppins"/>
              </a:rPr>
              <a:t>Destacados en el buscador</a:t>
            </a:r>
          </a:p>
        </p:txBody>
      </p:sp>
      <p:sp>
        <p:nvSpPr>
          <p:cNvPr id="8" name="Fuente de ingresos"/>
          <p:cNvSpPr/>
          <p:nvPr/>
        </p:nvSpPr>
        <p:spPr>
          <a:xfrm>
            <a:off x="6217104" y="4723780"/>
            <a:ext cx="3961880" cy="472378"/>
          </a:xfrm>
          <a:prstGeom prst="roundRect">
            <a:avLst>
              <a:gd name="adj" fmla="val 50000"/>
            </a:avLst>
          </a:prstGeom>
          <a:solidFill>
            <a:srgbClr val="F6F3F3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600" b="1">
                <a:solidFill>
                  <a:srgbClr val="1A1A1A"/>
                </a:solidFill>
                <a:latin typeface="Poppins"/>
              </a:rPr>
              <a:t>Anuncios por zona, tipo y presupuesto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Plannaz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304760"/>
            <a:ext cx="2161025" cy="396188"/>
          </a:xfrm>
          <a:prstGeom prst="rect">
            <a:avLst/>
          </a:prstGeom>
        </p:spPr>
      </p:pic>
      <p:sp>
        <p:nvSpPr>
          <p:cNvPr id="3" name="Número de slide"/>
          <p:cNvSpPr txBox="1"/>
          <p:nvPr/>
        </p:nvSpPr>
        <p:spPr>
          <a:xfrm>
            <a:off x="10514220" y="6323770"/>
            <a:ext cx="944756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DDD7D7"/>
                </a:solidFill>
                <a:latin typeface="Poppins"/>
              </a:rPr>
              <a:t>8 / 9</a:t>
            </a:r>
          </a:p>
        </p:txBody>
      </p:sp>
      <p:sp>
        <p:nvSpPr>
          <p:cNvPr id="4" name="Etiqueta"/>
          <p:cNvSpPr/>
          <p:nvPr/>
        </p:nvSpPr>
        <p:spPr>
          <a:xfrm>
            <a:off x="731424" y="1980940"/>
            <a:ext cx="1523800" cy="350474"/>
          </a:xfrm>
          <a:prstGeom prst="roundRect">
            <a:avLst>
              <a:gd name="adj" fmla="val 50000"/>
            </a:avLst>
          </a:prstGeom>
          <a:solidFill>
            <a:srgbClr val="CCFF8C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42" rIns="137142" tIns="0" bIns="0"/>
          <a:lstStyle/>
          <a:p>
            <a:pPr algn="ctr"/>
            <a:r>
              <a:rPr sz="1400" b="1">
                <a:solidFill>
                  <a:srgbClr val="1A1A1A"/>
                </a:solidFill>
                <a:latin typeface="Poppins"/>
              </a:rPr>
              <a:t>DECISIÓN</a:t>
            </a:r>
          </a:p>
        </p:txBody>
      </p:sp>
      <p:sp>
        <p:nvSpPr>
          <p:cNvPr id="5" name="Título"/>
          <p:cNvSpPr txBox="1"/>
          <p:nvPr/>
        </p:nvSpPr>
        <p:spPr>
          <a:xfrm>
            <a:off x="731424" y="2514270"/>
            <a:ext cx="10666600" cy="1828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1A1A1A"/>
                </a:solidFill>
                <a:highlight>
                  <a:srgbClr val="FF5757"/>
                </a:highlight>
                <a:latin typeface="Poppins"/>
              </a:rPr>
              <a:t>Pivotamos</a:t>
            </a:r>
          </a:p>
        </p:txBody>
      </p:sp>
      <p:sp>
        <p:nvSpPr>
          <p:cNvPr id="6" name="Subtítulo"/>
          <p:cNvSpPr txBox="1"/>
          <p:nvPr/>
        </p:nvSpPr>
        <p:spPr>
          <a:xfrm>
            <a:off x="731424" y="4571400"/>
            <a:ext cx="9904700" cy="609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DDD7D7"/>
                </a:solidFill>
                <a:latin typeface="Poppins"/>
              </a:rPr>
              <a:t>Sin versión de pago: gratis para siempre y con precios fijos que eliges tú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575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Plannaz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24" y="304760"/>
            <a:ext cx="2161025" cy="396188"/>
          </a:xfrm>
          <a:prstGeom prst="rect">
            <a:avLst/>
          </a:prstGeom>
        </p:spPr>
      </p:pic>
      <p:sp>
        <p:nvSpPr>
          <p:cNvPr id="3" name="Número de slide"/>
          <p:cNvSpPr txBox="1"/>
          <p:nvPr/>
        </p:nvSpPr>
        <p:spPr>
          <a:xfrm>
            <a:off x="10514220" y="6323770"/>
            <a:ext cx="944756" cy="228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1A1A1A"/>
                </a:solidFill>
                <a:latin typeface="Poppins"/>
              </a:rPr>
              <a:t>9 / 9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731424" y="1752370"/>
            <a:ext cx="6399960" cy="1980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Poppins"/>
              </a:rPr>
              <a:t>Escanead el QR </a:t>
            </a:r>
            <a:r>
              <a:rPr sz="6000" b="1">
                <a:solidFill>
                  <a:srgbClr val="1A1A1A"/>
                </a:solidFill>
                <a:highlight>
                  <a:srgbClr val="CCFF8C"/>
                </a:highlight>
                <a:latin typeface="Poppins"/>
              </a:rPr>
              <a:t>y probadlo</a:t>
            </a:r>
          </a:p>
        </p:txBody>
      </p:sp>
      <p:sp>
        <p:nvSpPr>
          <p:cNvPr id="5" name="Frase-lema"/>
          <p:cNvSpPr txBox="1"/>
          <p:nvPr/>
        </p:nvSpPr>
        <p:spPr>
          <a:xfrm>
            <a:off x="731424" y="3885690"/>
            <a:ext cx="6095200" cy="83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Poppins"/>
              </a:rPr>
              <a:t>Súmate a Plannazo y establece nuevos lazos</a:t>
            </a:r>
          </a:p>
        </p:txBody>
      </p:sp>
      <p:sp>
        <p:nvSpPr>
          <p:cNvPr id="6" name="URL de la app"/>
          <p:cNvSpPr txBox="1"/>
          <p:nvPr/>
        </p:nvSpPr>
        <p:spPr>
          <a:xfrm>
            <a:off x="731424" y="4952350"/>
            <a:ext cx="6095200" cy="30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Poppins"/>
                <a:hlinkClick r:id="rId4"/>
              </a:rPr>
              <a:t>equipo1-cmyk.github.io/ed-plannazo/app/</a:t>
            </a:r>
          </a:p>
        </p:txBody>
      </p:sp>
      <p:sp>
        <p:nvSpPr>
          <p:cNvPr id="7" name="Fondo del QR"/>
          <p:cNvSpPr/>
          <p:nvPr/>
        </p:nvSpPr>
        <p:spPr>
          <a:xfrm>
            <a:off x="7619000" y="1676180"/>
            <a:ext cx="3352360" cy="3352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85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QR de la app" descr="Código QR que abre https://equipo1-cmyk.github.io/ed-plannazo/app/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570" y="1904750"/>
            <a:ext cx="2895220" cy="2895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Plannazo · Pitch Demo Day</dc:title>
  <dc:subject/>
  <dc:creator>Equipo 1 · Plannazo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